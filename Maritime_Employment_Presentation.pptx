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Employment</c:v>
                </c:pt>
              </c:strCache>
            </c:strRef>
          </c:tx>
          <c:spPr>
            <a:ln w="38100" cap="flat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4010</c:v>
                </c:pt>
                <c:pt idx="1">
                  <c:v>4010</c:v>
                </c:pt>
                <c:pt idx="2">
                  <c:v>4213</c:v>
                </c:pt>
                <c:pt idx="3">
                  <c:v>3391</c:v>
                </c:pt>
                <c:pt idx="4">
                  <c:v>3055</c:v>
                </c:pt>
                <c:pt idx="5">
                  <c:v>2457</c:v>
                </c:pt>
                <c:pt idx="6">
                  <c:v>2954</c:v>
                </c:pt>
                <c:pt idx="7">
                  <c:v>3019</c:v>
                </c:pt>
                <c:pt idx="8">
                  <c:v>3223</c:v>
                </c:pt>
                <c:pt idx="9">
                  <c:v>3116</c:v>
                </c:pt>
                <c:pt idx="10">
                  <c:v>2520</c:v>
                </c:pt>
                <c:pt idx="11">
                  <c:v>4156</c:v>
                </c:pt>
                <c:pt idx="12">
                  <c:v>5097</c:v>
                </c:pt>
                <c:pt idx="13">
                  <c:v>6027</c:v>
                </c:pt>
                <c:pt idx="14">
                  <c:v>4673</c:v>
                </c:pt>
                <c:pt idx="15">
                  <c:v>4468</c:v>
                </c:pt>
                <c:pt idx="16">
                  <c:v>5284</c:v>
                </c:pt>
                <c:pt idx="17">
                  <c:v>5124</c:v>
                </c:pt>
                <c:pt idx="18">
                  <c:v>5108</c:v>
                </c:pt>
                <c:pt idx="19">
                  <c:v>5232</c:v>
                </c:pt>
                <c:pt idx="20">
                  <c:v>9945</c:v>
                </c:pt>
                <c:pt idx="21">
                  <c:v>9598</c:v>
                </c:pt>
                <c:pt idx="22">
                  <c:v>14219</c:v>
                </c:pt>
                <c:pt idx="23">
                  <c:v>13381</c:v>
                </c:pt>
                <c:pt idx="24">
                  <c:v>11900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5C-4475-9C4B-7C1CB1216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Employment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GUJARAT</c:v>
                </c:pt>
                <c:pt idx="1">
                  <c:v>MAHARASHTRA</c:v>
                </c:pt>
                <c:pt idx="2">
                  <c:v>GOA</c:v>
                </c:pt>
                <c:pt idx="3">
                  <c:v>DAMAN &amp; DIU</c:v>
                </c:pt>
                <c:pt idx="4">
                  <c:v>KARNATAKA</c:v>
                </c:pt>
                <c:pt idx="5">
                  <c:v>KERALA</c:v>
                </c:pt>
                <c:pt idx="6">
                  <c:v>TAMIL NADU</c:v>
                </c:pt>
                <c:pt idx="7">
                  <c:v>PUDUCHERRY</c:v>
                </c:pt>
                <c:pt idx="8">
                  <c:v>ANDHRA PRADESH</c:v>
                </c:pt>
                <c:pt idx="9">
                  <c:v>ANDAMAN &amp; NIC.</c:v>
                </c:pt>
                <c:pt idx="10">
                  <c:v>ODISHA</c:v>
                </c:pt>
                <c:pt idx="11">
                  <c:v>LAKSHADWEEP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523</c:v>
                </c:pt>
                <c:pt idx="1">
                  <c:v>100</c:v>
                </c:pt>
                <c:pt idx="2">
                  <c:v>152</c:v>
                </c:pt>
                <c:pt idx="3">
                  <c:v>3</c:v>
                </c:pt>
                <c:pt idx="4">
                  <c:v>45</c:v>
                </c:pt>
                <c:pt idx="5">
                  <c:v>238</c:v>
                </c:pt>
                <c:pt idx="6">
                  <c:v>22</c:v>
                </c:pt>
                <c:pt idx="7">
                  <c:v>87</c:v>
                </c:pt>
                <c:pt idx="8">
                  <c:v>5439</c:v>
                </c:pt>
                <c:pt idx="9">
                  <c:v>235</c:v>
                </c:pt>
                <c:pt idx="10">
                  <c:v>4883</c:v>
                </c:pt>
                <c:pt idx="11">
                  <c:v>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B9-4D0E-B41A-1CE1C2EBF9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38100" cap="flat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</c:v>
                </c:pt>
                <c:pt idx="11">
                  <c:v>2027</c:v>
                </c:pt>
                <c:pt idx="12">
                  <c:v>2028</c:v>
                </c:pt>
                <c:pt idx="13">
                  <c:v>2029</c:v>
                </c:pt>
                <c:pt idx="14">
                  <c:v>2030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4468</c:v>
                </c:pt>
                <c:pt idx="1">
                  <c:v>5284</c:v>
                </c:pt>
                <c:pt idx="2">
                  <c:v>5124</c:v>
                </c:pt>
                <c:pt idx="3">
                  <c:v>5108</c:v>
                </c:pt>
                <c:pt idx="4">
                  <c:v>5232</c:v>
                </c:pt>
                <c:pt idx="5">
                  <c:v>9945</c:v>
                </c:pt>
                <c:pt idx="6">
                  <c:v>9598</c:v>
                </c:pt>
                <c:pt idx="7">
                  <c:v>14219</c:v>
                </c:pt>
                <c:pt idx="8">
                  <c:v>13381</c:v>
                </c:pt>
                <c:pt idx="9">
                  <c:v>11900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BE-4A29-B6D7-14AECB7485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(Linear Trend)</c:v>
                </c:pt>
              </c:strCache>
            </c:strRef>
          </c:tx>
          <c:spPr>
            <a:ln w="38100" cap="flat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C000"/>
              </a:solidFill>
              <a:ln w="9525" cap="flat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</c:v>
                </c:pt>
                <c:pt idx="11">
                  <c:v>2027</c:v>
                </c:pt>
                <c:pt idx="12">
                  <c:v>2028</c:v>
                </c:pt>
                <c:pt idx="13">
                  <c:v>2029</c:v>
                </c:pt>
                <c:pt idx="14">
                  <c:v>2030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11900</c:v>
                </c:pt>
                <c:pt idx="10">
                  <c:v>11247</c:v>
                </c:pt>
                <c:pt idx="11">
                  <c:v>10594</c:v>
                </c:pt>
                <c:pt idx="12">
                  <c:v>9941</c:v>
                </c:pt>
                <c:pt idx="13">
                  <c:v>9288</c:v>
                </c:pt>
                <c:pt idx="14">
                  <c:v>8635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BE-4A29-B6D7-14AECB748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23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EMPLOYMENT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Non-Major Ports, India  |  2001 – 2025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108960"/>
            <a:ext cx="50292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291840"/>
            <a:ext cx="1737360" cy="384048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States / Boards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3291840"/>
            <a:ext cx="1737360" cy="384048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Years of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3291840"/>
            <a:ext cx="1737360" cy="384048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MoPSW, GoI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F9DB9"/>
                </a:solidFill>
              </a:rPr>
              <a:t>Ministry of Ports, Shipping &amp; Waterways  |  Government of 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4630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69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Objective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35608"/>
            <a:ext cx="36576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3560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employment trends at Non-Major Ports across Indian coastal states from 2001 to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69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Data Source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435608"/>
            <a:ext cx="36576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43560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Ports, Shipping &amp; Waterways (MoPSW), Government of India — official annual reports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990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Scope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355848"/>
            <a:ext cx="36576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35584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state-level maritime boards tracked across 25 years, covering 140,000+ total employment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990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Tools Used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3355848"/>
            <a:ext cx="36576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35584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(cleaning, analysis, dashboard) · Power BI (interactive visuals) · SQL (structured queries)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8288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60120"/>
            <a:ext cx="27432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075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947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from 14,219 peak in 2023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60120"/>
            <a:ext cx="274320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3075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46120" y="1947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baseline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7432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60120"/>
            <a:ext cx="2743200" cy="3200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075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72200" y="1947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Growth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2001–2023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growth before decline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80360"/>
            <a:ext cx="2743200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278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20040" y="3867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 2025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233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concentration risk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2880360"/>
            <a:ext cx="27432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80360"/>
            <a:ext cx="27432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2278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14,219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246120" y="3867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Peak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4233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 jump in 2020–23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27432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880360"/>
            <a:ext cx="274320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2278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172200" y="3867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/ Boards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4233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coastal India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EMPLOYMENT TREND  (2001 – 2025)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8288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777240"/>
          <a:ext cx="8595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914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2023 Peak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14,219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4360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 Surge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EMPLOYMENT  (2025)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828800" cy="457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77724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822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35040" y="1261872"/>
            <a:ext cx="27432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3167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Andhra Pradesh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6480" y="16093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5,439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223760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~46% of national total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2340864"/>
            <a:ext cx="27432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 Odisha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26883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4,883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22376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 2001 → powerhouse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3419856"/>
            <a:ext cx="27432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8E4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 Gujarat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37673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22376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#1 in 2001 (2,441)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35040" y="4480560"/>
            <a:ext cx="2834640" cy="384048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Biggest Decline: Gujarat  −78.6% since 2001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280160" cy="5486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8686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109728" cy="1234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Andhra Pradesh — 50x Growth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930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107 jobs (2001) to a peak of 7,609 (2023). A textbook case of port-led economic development. Now accounts for ~46% of all non-major port employment.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68680"/>
            <a:ext cx="109728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Odisha — Zero to Hero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8930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zero recorded employment before 2008. Rose to 4,883 jobs by 2025 — the 2nd largest state employer. Reflects massive port infrastructure investment.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240280"/>
            <a:ext cx="109728" cy="1234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31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Gujarat — The Great Decline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66090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#1 state in 2001 with 2,441 jobs. Has declined every single year to just 523 in 2025 — a 79% drop. Cargo may have shifted to major ports.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40280"/>
            <a:ext cx="109728" cy="12344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31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Concentration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66090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2 states (AP + Odisha) now account for nearly 87% of national employment. Any policy change in these states would dramatically shift national figures.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6118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611880"/>
            <a:ext cx="109728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03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Post-2023 Reversal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3250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peaking at 14,219 in 2023, national employment dropped 16% to 11,900 in 2025. The data signals a possible plateau or correction phase ahead.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11880"/>
            <a:ext cx="109728" cy="12344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03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 Stable Core States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03250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Goa, Kerala, and Tamil Nadu have maintained consistent employment throughout — resilient but small. They represent the stable foundation of non-major port activity.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 2026 – 2030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46304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804672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914400"/>
          <a:ext cx="2743200" cy="2560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~11,247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~10,594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~9,941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~9,288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~8,635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126480" y="3611880"/>
            <a:ext cx="2743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Linear regression based on 2016–2025.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values depend on policy &amp; investment.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49047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Non-major ports have grown 3× in employment since 2001, with Andhra Pradesh and Odisha driving nearly all of the recent expansion.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221992"/>
            <a:ext cx="8412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29514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 is high — 2 states dominate 87% of employment. Diversification of port activity to other states is critical for resilience.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026664"/>
            <a:ext cx="8412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09981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post-2023 dip in national totals warrants monitoring. If AP and Odisha continue declining, 2030 projections suggest a drop to ~8,600 jobs.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831336"/>
            <a:ext cx="8412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904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like Kerala, Karnataka, and Tamil Nadu show untapped potential — targeted maritime investment here could meaningfully boost national figures.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9DB9"/>
                </a:solidFill>
              </a:rPr>
              <a:t>Data Source: Ministry of Ports, Shipping &amp; Waterways, Government of India  |  Analysis Period: 2001–2025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616</Words>
  <Application>Microsoft Office PowerPoint</Application>
  <PresentationFormat>On-screen Show (16:9)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Maritime Employment Dashboard — Non-Major Ports India</dc:title>
  <dc:subject>PptxGenJS Presentation</dc:subject>
  <dc:creator>Data Analyst</dc:creator>
  <cp:lastModifiedBy>Piyush Aghor</cp:lastModifiedBy>
  <cp:revision>1</cp:revision>
  <dcterms:created xsi:type="dcterms:W3CDTF">2026-05-23T14:44:49Z</dcterms:created>
  <dcterms:modified xsi:type="dcterms:W3CDTF">2026-05-23T15:00:29Z</dcterms:modified>
</cp:coreProperties>
</file>